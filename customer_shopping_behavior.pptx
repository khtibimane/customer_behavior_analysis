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22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6B0F7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6A4-4246-B004-D706E817FE24}"/>
              </c:ext>
            </c:extLst>
          </c:dPt>
          <c:dPt>
            <c:idx val="1"/>
            <c:invertIfNegative val="0"/>
            <c:bubble3D val="0"/>
            <c:spPr>
              <a:solidFill>
                <a:srgbClr val="A24D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A4-4246-B004-D706E817FE24}"/>
              </c:ext>
            </c:extLst>
          </c:dPt>
          <c:dPt>
            <c:idx val="2"/>
            <c:invertIfNegative val="0"/>
            <c:bubble3D val="0"/>
            <c:spPr>
              <a:solidFill>
                <a:srgbClr val="E566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6A4-4246-B004-D706E817FE2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6A4-4246-B004-D706E817FE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F6F6F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6F6F6F"/>
                </a:solidFill>
                <a:latin typeface="Calibri"/>
              </a:rPr>
              <a:t>Revenue by category ($ thousands)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B0F7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977-4773-8B7C-DC41F8F389BB}"/>
              </c:ext>
            </c:extLst>
          </c:dPt>
          <c:dPt>
            <c:idx val="1"/>
            <c:invertIfNegative val="0"/>
            <c:bubble3D val="0"/>
            <c:spPr>
              <a:solidFill>
                <a:srgbClr val="C9A0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977-4773-8B7C-DC41F8F389BB}"/>
              </c:ext>
            </c:extLst>
          </c:dPt>
          <c:dPt>
            <c:idx val="2"/>
            <c:invertIfNegative val="0"/>
            <c:bubble3D val="0"/>
            <c:spPr>
              <a:solidFill>
                <a:srgbClr val="C9A0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977-4773-8B7C-DC41F8F389BB}"/>
              </c:ext>
            </c:extLst>
          </c:dPt>
          <c:dPt>
            <c:idx val="3"/>
            <c:invertIfNegative val="0"/>
            <c:bubble3D val="0"/>
            <c:spPr>
              <a:solidFill>
                <a:srgbClr val="C9A0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977-4773-8B7C-DC41F8F389BB}"/>
              </c:ext>
            </c:extLst>
          </c:dPt>
          <c:dLbls>
            <c:numFmt formatCode="&quot;$&quot;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</c:v>
                </c:pt>
                <c:pt idx="1">
                  <c:v>74</c:v>
                </c:pt>
                <c:pt idx="2">
                  <c:v>36</c:v>
                </c:pt>
                <c:pt idx="3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977-4773-8B7C-DC41F8F389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0106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Imane Khtib | Customer Shopping Behavior Analysis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6F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6F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htibimane/customer_behavior_analysi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htibimane/customer_behavior_analysi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0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754880" cy="4754880"/>
          </a:xfrm>
          <a:prstGeom prst="ellipse">
            <a:avLst/>
          </a:prstGeom>
          <a:solidFill>
            <a:srgbClr val="E566B8">
              <a:alpha val="25000"/>
            </a:srgbClr>
          </a:solidFill>
          <a:ln w="12700">
            <a:solidFill>
              <a:srgbClr val="E56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0" y="2651760"/>
            <a:ext cx="3291840" cy="3291840"/>
          </a:xfrm>
          <a:prstGeom prst="ellipse">
            <a:avLst/>
          </a:prstGeom>
          <a:solidFill>
            <a:srgbClr val="6B0F7B">
              <a:alpha val="80000"/>
            </a:srgbClr>
          </a:solidFill>
          <a:ln w="12700">
            <a:solidFill>
              <a:srgbClr val="6B0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spending and loyalty?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PostgreSQL  |  Power BI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11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6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Imane Khtib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14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E8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the project on GitHu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github.com/khtibimane/customer_behavior_analysis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0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purchases (one per customer) and 18 columns, with no purchase dates.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4754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project report, dataset summary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291840" y="14173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126480" y="14173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$233,081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85800" y="28163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136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2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363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loyal are customers, and how many are new?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4472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2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4472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drive revenue, and which products sell most?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7581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2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7581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subscriptions, discounts or shipping affect spend?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069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2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age or gender make a difference?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52160" y="274320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080760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080760" y="320040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missing review ratings (about 1%)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purchase dates, so no trends over time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6F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0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Process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in Python, queried in PostgreSQL, and presented in an interactive Power BI dashboard.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4754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customer_shopping_behavior.ipynb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347472" cy="347472"/>
          </a:xfrm>
          <a:prstGeom prst="ellipse">
            <a:avLst/>
          </a:prstGeom>
          <a:solidFill>
            <a:srgbClr val="6B0F7B"/>
          </a:solidFill>
          <a:ln w="12700">
            <a:solidFill>
              <a:srgbClr val="6B0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019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267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inspect, clean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22576" y="1920240"/>
            <a:ext cx="228600" cy="274320"/>
          </a:xfrm>
          <a:prstGeom prst="rightArrow">
            <a:avLst/>
          </a:prstGeom>
          <a:solidFill>
            <a:srgbClr val="C9A0D6"/>
          </a:solidFill>
          <a:ln w="12700">
            <a:solidFill>
              <a:srgbClr val="C9A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90495" y="137160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27655" y="1481328"/>
            <a:ext cx="347472" cy="347472"/>
          </a:xfrm>
          <a:prstGeom prst="ellipse">
            <a:avLst/>
          </a:prstGeom>
          <a:solidFill>
            <a:srgbClr val="6B0F7B"/>
          </a:solidFill>
          <a:ln w="12700">
            <a:solidFill>
              <a:srgbClr val="6B0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727655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27655" y="19019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27655" y="2267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group, purchase frequency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55871" y="1920240"/>
            <a:ext cx="228600" cy="274320"/>
          </a:xfrm>
          <a:prstGeom prst="rightArrow">
            <a:avLst/>
          </a:prstGeom>
          <a:solidFill>
            <a:srgbClr val="C9A0D6"/>
          </a:solidFill>
          <a:ln w="12700">
            <a:solidFill>
              <a:srgbClr val="C9A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23790" y="137160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60950" y="1481328"/>
            <a:ext cx="347472" cy="347472"/>
          </a:xfrm>
          <a:prstGeom prst="ellipse">
            <a:avLst/>
          </a:prstGeom>
          <a:solidFill>
            <a:srgbClr val="6B0F7B"/>
          </a:solidFill>
          <a:ln w="12700">
            <a:solidFill>
              <a:srgbClr val="6B0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86095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60950" y="19019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60950" y="2267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clean table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9166" y="1920240"/>
            <a:ext cx="228600" cy="274320"/>
          </a:xfrm>
          <a:prstGeom prst="rightArrow">
            <a:avLst/>
          </a:prstGeom>
          <a:solidFill>
            <a:srgbClr val="C9A0D6"/>
          </a:solidFill>
          <a:ln w="12700">
            <a:solidFill>
              <a:srgbClr val="C9A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7086" y="137160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94246" y="1481328"/>
            <a:ext cx="347472" cy="347472"/>
          </a:xfrm>
          <a:prstGeom prst="ellipse">
            <a:avLst/>
          </a:prstGeom>
          <a:solidFill>
            <a:srgbClr val="6B0F7B"/>
          </a:solidFill>
          <a:ln w="12700">
            <a:solidFill>
              <a:srgbClr val="6B0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994246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94246" y="19019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94246" y="2267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and present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880360"/>
            <a:ext cx="4754880" cy="1554480"/>
          </a:xfrm>
          <a:prstGeom prst="roundRect">
            <a:avLst>
              <a:gd name="adj" fmla="val 5882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85800" y="29535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Cleaning Decisions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329184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37 missing ratings with each category’s median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 to snake_case for SQL readability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promo code: it matched the discount column in every row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0" y="288036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715000" y="2953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Created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715000" y="32918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6B0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age_group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age bands using pd.qcut()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6B0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purchase_frequency_days</a:t>
            </a:r>
            <a:endParaRPr lang="en-US" sz="1150" dirty="0"/>
          </a:p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Weekly, Monthly, Quarterly as days</a:t>
            </a:r>
            <a:endParaRPr lang="en-US" sz="11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6F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0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are Loyal; very few are New.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4754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SQL customer segmentation (Q7); Power BI dashboard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25880"/>
          <a:ext cx="512064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160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= 1 previous purchase  |  Returning = 2 to 10  |  Loyal = 11 or more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2160" y="1371600"/>
            <a:ext cx="2834640" cy="1508760"/>
          </a:xfrm>
          <a:prstGeom prst="roundRect">
            <a:avLst>
              <a:gd name="adj" fmla="val 6061"/>
            </a:avLst>
          </a:prstGeom>
          <a:solidFill>
            <a:srgbClr val="6B0F7B"/>
          </a:solidFill>
          <a:ln w="12700">
            <a:solidFill>
              <a:srgbClr val="6B0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852160" y="1417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are Loyal (3,116)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52160" y="3017520"/>
            <a:ext cx="2834640" cy="1417320"/>
          </a:xfrm>
          <a:prstGeom prst="roundRect">
            <a:avLst>
              <a:gd name="adj" fmla="val 6452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852160" y="3063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B82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customers: the weak spot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6F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0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brings in the most revenue, about 45% of $233K.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4754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dashboard; SQL Q8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2588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371600"/>
            <a:ext cx="2834640" cy="1508760"/>
          </a:xfrm>
          <a:prstGeom prst="roundRect">
            <a:avLst>
              <a:gd name="adj" fmla="val 6061"/>
            </a:avLst>
          </a:prstGeom>
          <a:solidFill>
            <a:srgbClr val="6B0F7B"/>
          </a:solidFill>
          <a:ln w="12700">
            <a:solidFill>
              <a:srgbClr val="6B0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852160" y="1417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Clothing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52160" y="3017520"/>
            <a:ext cx="2834640" cy="1417320"/>
          </a:xfrm>
          <a:prstGeom prst="roundRect">
            <a:avLst>
              <a:gd name="adj" fmla="val 6452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6"/>
          <p:cNvSpPr txBox="1"/>
          <p:nvPr/>
        </p:nvSpPr>
        <p:spPr>
          <a:xfrm>
            <a:off x="6035040" y="306324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purchased product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Accessories: </a:t>
            </a:r>
            <a:r>
              <a:rPr lang="en-US" sz="1200" b="1" dirty="0">
                <a:solidFill>
                  <a:srgbClr val="B82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 (171 orders)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Clothing: </a:t>
            </a:r>
            <a:r>
              <a:rPr lang="en-US" sz="1200" b="1" dirty="0">
                <a:solidFill>
                  <a:srgbClr val="B82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 (171 orders)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Footwear: </a:t>
            </a:r>
            <a:r>
              <a:rPr lang="en-US" sz="1200" b="1" dirty="0">
                <a:solidFill>
                  <a:srgbClr val="B82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 (160 orders)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Outerwear: </a:t>
            </a:r>
            <a:r>
              <a:rPr lang="en-US" sz="1200" b="1" dirty="0">
                <a:solidFill>
                  <a:srgbClr val="B82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 (163 orders)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are close: 145 to 171 orders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6F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F0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Subscriptions, Discounts and Shipping</a:t>
            </a:r>
            <a:endParaRPr lang="en-US" sz="2800" dirty="0"/>
          </a:p>
        </p:txBody>
      </p:sp>
      <p:sp>
        <p:nvSpPr>
          <p:cNvPr id="3" name="Text 3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Subscribing isn't increasing spending, and 43% of purchases used a discount.</a:t>
            </a:r>
            <a:endParaRPr lang="en-US" sz="1400" dirty="0"/>
          </a:p>
        </p:txBody>
      </p:sp>
      <p:sp>
        <p:nvSpPr>
          <p:cNvPr id="4" name="Text 4"/>
          <p:cNvSpPr txBox="1"/>
          <p:nvPr/>
        </p:nvSpPr>
        <p:spPr>
          <a:xfrm>
            <a:off x="3931920" y="4754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SQL Q2, Q4, Q5 and Q6; Power BI dashboard</a:t>
            </a:r>
            <a:endParaRPr lang="en-US" sz="900" dirty="0"/>
          </a:p>
        </p:txBody>
      </p:sp>
      <p:sp>
        <p:nvSpPr>
          <p:cNvPr id="5" name="Shape 5"/>
          <p:cNvSpPr/>
          <p:nvPr/>
        </p:nvSpPr>
        <p:spPr>
          <a:xfrm>
            <a:off x="457200" y="1371600"/>
            <a:ext cx="2834640" cy="3063240"/>
          </a:xfrm>
          <a:prstGeom prst="roundRect">
            <a:avLst>
              <a:gd name="adj" fmla="val 5000"/>
            </a:avLst>
          </a:prstGeom>
          <a:solidFill>
            <a:srgbClr val="6B0F7B"/>
          </a:solidFill>
          <a:ln w="12700">
            <a:solidFill>
              <a:srgbClr val="6B0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45720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usage</a:t>
            </a:r>
            <a:endParaRPr lang="en-US" sz="1400" dirty="0"/>
          </a:p>
        </p:txBody>
      </p:sp>
      <p:sp>
        <p:nvSpPr>
          <p:cNvPr id="7" name="Text 7"/>
          <p:cNvSpPr txBox="1"/>
          <p:nvPr/>
        </p:nvSpPr>
        <p:spPr>
          <a:xfrm>
            <a:off x="457200" y="20116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6600" dirty="0"/>
          </a:p>
        </p:txBody>
      </p:sp>
      <p:sp>
        <p:nvSpPr>
          <p:cNvPr id="8" name="Text 8"/>
          <p:cNvSpPr txBox="1"/>
          <p:nvPr/>
        </p:nvSpPr>
        <p:spPr>
          <a:xfrm>
            <a:off x="457200" y="3246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purchases used a discount</a:t>
            </a:r>
            <a:endParaRPr lang="en-US" sz="1800" dirty="0"/>
          </a:p>
        </p:txBody>
      </p:sp>
      <p:sp>
        <p:nvSpPr>
          <p:cNvPr id="9" name="Text 9"/>
          <p:cNvSpPr txBox="1"/>
          <p:nvPr/>
        </p:nvSpPr>
        <p:spPr>
          <a:xfrm>
            <a:off x="457200" y="3931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1,677 of 3,900</a:t>
            </a:r>
            <a:endParaRPr lang="en-US" sz="1500" dirty="0"/>
          </a:p>
        </p:txBody>
      </p:sp>
      <p:sp>
        <p:nvSpPr>
          <p:cNvPr id="10" name="Shape 10"/>
          <p:cNvSpPr/>
          <p:nvPr/>
        </p:nvSpPr>
        <p:spPr>
          <a:xfrm>
            <a:off x="3566160" y="1371600"/>
            <a:ext cx="2491740" cy="1371600"/>
          </a:xfrm>
          <a:prstGeom prst="roundRect">
            <a:avLst>
              <a:gd name="adj" fmla="val 5000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3749040" y="1508760"/>
            <a:ext cx="212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3749040" y="178308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$59.49 vs $59.87</a:t>
            </a:r>
            <a:endParaRPr lang="en-US" sz="2000" dirty="0"/>
          </a:p>
        </p:txBody>
      </p:sp>
      <p:sp>
        <p:nvSpPr>
          <p:cNvPr id="13" name="Text 13"/>
          <p:cNvSpPr txBox="1"/>
          <p:nvPr/>
        </p:nvSpPr>
        <p:spPr>
          <a:xfrm>
            <a:off x="3749040" y="228600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per purchase, subscribers vs non-subscribers</a:t>
            </a:r>
            <a:endParaRPr lang="en-US" sz="1200" dirty="0"/>
          </a:p>
        </p:txBody>
      </p:sp>
      <p:sp>
        <p:nvSpPr>
          <p:cNvPr id="14" name="Shape 14"/>
          <p:cNvSpPr/>
          <p:nvPr/>
        </p:nvSpPr>
        <p:spPr>
          <a:xfrm>
            <a:off x="6195060" y="1371600"/>
            <a:ext cx="2491740" cy="1371600"/>
          </a:xfrm>
          <a:prstGeom prst="roundRect">
            <a:avLst>
              <a:gd name="adj" fmla="val 5000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6377940" y="1508760"/>
            <a:ext cx="212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1300" dirty="0"/>
          </a:p>
        </p:txBody>
      </p:sp>
      <p:sp>
        <p:nvSpPr>
          <p:cNvPr id="16" name="Text 16"/>
          <p:cNvSpPr txBox="1"/>
          <p:nvPr/>
        </p:nvSpPr>
        <p:spPr>
          <a:xfrm>
            <a:off x="6377940" y="178308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$60.48 vs $58.46</a:t>
            </a:r>
            <a:endParaRPr lang="en-US" sz="2000" dirty="0"/>
          </a:p>
        </p:txBody>
      </p:sp>
      <p:sp>
        <p:nvSpPr>
          <p:cNvPr id="17" name="Text 17"/>
          <p:cNvSpPr txBox="1"/>
          <p:nvPr/>
        </p:nvSpPr>
        <p:spPr>
          <a:xfrm>
            <a:off x="6377940" y="228600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vs Standard, a gap of about $2</a:t>
            </a:r>
            <a:endParaRPr lang="en-US" sz="1200" dirty="0"/>
          </a:p>
        </p:txBody>
      </p:sp>
      <p:sp>
        <p:nvSpPr>
          <p:cNvPr id="18" name="Shape 18"/>
          <p:cNvSpPr/>
          <p:nvPr/>
        </p:nvSpPr>
        <p:spPr>
          <a:xfrm>
            <a:off x="3566160" y="2880360"/>
            <a:ext cx="2491740" cy="1554480"/>
          </a:xfrm>
          <a:prstGeom prst="roundRect">
            <a:avLst>
              <a:gd name="adj" fmla="val 5000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9"/>
          <p:cNvSpPr txBox="1"/>
          <p:nvPr/>
        </p:nvSpPr>
        <p:spPr>
          <a:xfrm>
            <a:off x="3749040" y="3017520"/>
            <a:ext cx="212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discounted</a:t>
            </a:r>
            <a:endParaRPr lang="en-US" sz="1300" dirty="0"/>
          </a:p>
        </p:txBody>
      </p:sp>
      <p:sp>
        <p:nvSpPr>
          <p:cNvPr id="20" name="Text 20"/>
          <p:cNvSpPr txBox="1"/>
          <p:nvPr/>
        </p:nvSpPr>
        <p:spPr>
          <a:xfrm>
            <a:off x="3749040" y="329184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2800" dirty="0"/>
          </a:p>
        </p:txBody>
      </p:sp>
      <p:sp>
        <p:nvSpPr>
          <p:cNvPr id="21" name="Text 21"/>
          <p:cNvSpPr txBox="1"/>
          <p:nvPr/>
        </p:nvSpPr>
        <p:spPr>
          <a:xfrm>
            <a:off x="3749040" y="3794760"/>
            <a:ext cx="2125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Hats (50.00%) and sneakers (49.66%) are discounted most; the top five are all close to half</a:t>
            </a:r>
            <a:endParaRPr lang="en-US" sz="1200" dirty="0"/>
          </a:p>
        </p:txBody>
      </p:sp>
      <p:sp>
        <p:nvSpPr>
          <p:cNvPr id="22" name="Shape 22"/>
          <p:cNvSpPr/>
          <p:nvPr/>
        </p:nvSpPr>
        <p:spPr>
          <a:xfrm>
            <a:off x="6195060" y="2880360"/>
            <a:ext cx="2491740" cy="1554480"/>
          </a:xfrm>
          <a:prstGeom prst="roundRect">
            <a:avLst>
              <a:gd name="adj" fmla="val 5000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3"/>
          <p:cNvSpPr txBox="1"/>
          <p:nvPr/>
        </p:nvSpPr>
        <p:spPr>
          <a:xfrm>
            <a:off x="6377940" y="3017520"/>
            <a:ext cx="212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Above-average spenders</a:t>
            </a:r>
            <a:endParaRPr lang="en-US" sz="1300" dirty="0"/>
          </a:p>
        </p:txBody>
      </p:sp>
      <p:sp>
        <p:nvSpPr>
          <p:cNvPr id="24" name="Text 24"/>
          <p:cNvSpPr txBox="1"/>
          <p:nvPr/>
        </p:nvSpPr>
        <p:spPr>
          <a:xfrm>
            <a:off x="6377940" y="329184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</a:t>
            </a:r>
            <a:endParaRPr lang="en-US" sz="2800" dirty="0"/>
          </a:p>
        </p:txBody>
      </p:sp>
      <p:sp>
        <p:nvSpPr>
          <p:cNvPr id="25" name="Text 25"/>
          <p:cNvSpPr txBox="1"/>
          <p:nvPr/>
        </p:nvSpPr>
        <p:spPr>
          <a:xfrm>
            <a:off x="6377940" y="3794760"/>
            <a:ext cx="2125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used a discount and still spent above the $59.76 average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6F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F0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Gender</a:t>
            </a:r>
            <a:endParaRPr lang="en-US" sz="2800" dirty="0"/>
          </a:p>
        </p:txBody>
      </p:sp>
      <p:sp>
        <p:nvSpPr>
          <p:cNvPr id="3" name="Text 3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barely changes spend; men bring in most of the revenue.</a:t>
            </a:r>
            <a:endParaRPr lang="en-US" sz="1400" dirty="0"/>
          </a:p>
        </p:txBody>
      </p:sp>
      <p:sp>
        <p:nvSpPr>
          <p:cNvPr id="4" name="Text 4"/>
          <p:cNvSpPr txBox="1"/>
          <p:nvPr/>
        </p:nvSpPr>
        <p:spPr>
          <a:xfrm>
            <a:off x="3931920" y="4754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SQL Q1 and Q10</a:t>
            </a:r>
            <a:endParaRPr lang="en-US" sz="900" dirty="0"/>
          </a:p>
        </p:txBody>
      </p:sp>
      <p:sp>
        <p:nvSpPr>
          <p:cNvPr id="5" name="Shape 5"/>
          <p:cNvSpPr/>
          <p:nvPr/>
        </p:nvSpPr>
        <p:spPr>
          <a:xfrm>
            <a:off x="457200" y="1371600"/>
            <a:ext cx="3977640" cy="3063240"/>
          </a:xfrm>
          <a:prstGeom prst="roundRect">
            <a:avLst>
              <a:gd name="adj" fmla="val 5000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685800" y="15544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2000" dirty="0"/>
          </a:p>
        </p:txBody>
      </p:sp>
      <p:sp>
        <p:nvSpPr>
          <p:cNvPr id="7" name="Text 7"/>
          <p:cNvSpPr txBox="1"/>
          <p:nvPr/>
        </p:nvSpPr>
        <p:spPr>
          <a:xfrm>
            <a:off x="685800" y="20116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$59.07 to $60.45</a:t>
            </a:r>
            <a:endParaRPr lang="en-US" sz="3200" dirty="0"/>
          </a:p>
        </p:txBody>
      </p:sp>
      <p:sp>
        <p:nvSpPr>
          <p:cNvPr id="8" name="Text 8"/>
          <p:cNvSpPr txBox="1"/>
          <p:nvPr/>
        </p:nvSpPr>
        <p:spPr>
          <a:xfrm>
            <a:off x="685800" y="29718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across the four age groups. Young Adults bring in the most revenue ($62,143).</a:t>
            </a:r>
            <a:endParaRPr lang="en-US" sz="1400" dirty="0"/>
          </a:p>
        </p:txBody>
      </p:sp>
      <p:sp>
        <p:nvSpPr>
          <p:cNvPr id="9" name="Shape 9"/>
          <p:cNvSpPr/>
          <p:nvPr/>
        </p:nvSpPr>
        <p:spPr>
          <a:xfrm>
            <a:off x="4709160" y="1371600"/>
            <a:ext cx="3977640" cy="3063240"/>
          </a:xfrm>
          <a:prstGeom prst="roundRect">
            <a:avLst>
              <a:gd name="adj" fmla="val 5000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4937760" y="15544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2000" dirty="0"/>
          </a:p>
        </p:txBody>
      </p:sp>
      <p:sp>
        <p:nvSpPr>
          <p:cNvPr id="11" name="Text 11"/>
          <p:cNvSpPr txBox="1"/>
          <p:nvPr/>
        </p:nvSpPr>
        <p:spPr>
          <a:xfrm>
            <a:off x="4937760" y="20116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revenue</a:t>
            </a:r>
            <a:endParaRPr lang="en-US" sz="3200" dirty="0"/>
          </a:p>
        </p:txBody>
      </p:sp>
      <p:sp>
        <p:nvSpPr>
          <p:cNvPr id="12" name="Text 12"/>
          <p:cNvSpPr txBox="1"/>
          <p:nvPr/>
        </p:nvSpPr>
        <p:spPr>
          <a:xfrm>
            <a:off x="4937760" y="29718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bring in about 68% of revenue ($157,890 vs $75,191), roughly twice as much as female customers.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6F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0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connected to the PostgreSQL customer table.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4754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customer_behavior_dashboard.pbix</a:t>
            </a:r>
            <a:endParaRPr lang="en-US" sz="900" dirty="0"/>
          </a:p>
        </p:txBody>
      </p:sp>
      <p:pic>
        <p:nvPicPr>
          <p:cNvPr id="5" name="Image 0" descr="/mnt/user-data/upload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5852160" cy="32457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325880"/>
            <a:ext cx="2103120" cy="3245736"/>
          </a:xfrm>
          <a:prstGeom prst="roundRect">
            <a:avLst>
              <a:gd name="adj" fmla="val 4348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81228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192024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6F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0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to test, not proven conclusions.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4754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project report, business recommendations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6B0F7B"/>
          </a:solidFill>
          <a:ln w="12700">
            <a:solidFill>
              <a:srgbClr val="6B0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49961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3716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New Customers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F3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 acquisition incentive on a first purchase.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3716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6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New-customer volume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" y="2139696"/>
            <a:ext cx="310896" cy="310896"/>
          </a:xfrm>
          <a:prstGeom prst="ellipse">
            <a:avLst/>
          </a:prstGeom>
          <a:solidFill>
            <a:srgbClr val="B8247F"/>
          </a:solidFill>
          <a:ln w="12700">
            <a:solidFill>
              <a:srgbClr val="B824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94360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0116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 Subscription Value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benefits designed to encourage larger purchases.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0116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vs non-subscriber spend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" y="2779776"/>
            <a:ext cx="310896" cy="310896"/>
          </a:xfrm>
          <a:prstGeom prst="ellipse">
            <a:avLst/>
          </a:prstGeom>
          <a:solidFill>
            <a:srgbClr val="B8247F"/>
          </a:solidFill>
          <a:ln w="12700">
            <a:solidFill>
              <a:srgbClr val="B824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2779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6517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Discounts Before Extending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discount on selected products and monitor demand.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2651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and revenue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" y="3419856"/>
            <a:ext cx="310896" cy="310896"/>
          </a:xfrm>
          <a:prstGeom prst="ellipse">
            <a:avLst/>
          </a:prstGeom>
          <a:solidFill>
            <a:srgbClr val="B8247F"/>
          </a:solidFill>
          <a:ln w="12700">
            <a:solidFill>
              <a:srgbClr val="B824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94360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2918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Leading Categories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top sellers and investigate Outerwear.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32918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4360" y="4059936"/>
            <a:ext cx="310896" cy="310896"/>
          </a:xfrm>
          <a:prstGeom prst="ellipse">
            <a:avLst/>
          </a:prstGeom>
          <a:solidFill>
            <a:srgbClr val="B8247F"/>
          </a:solidFill>
          <a:ln w="12700">
            <a:solidFill>
              <a:srgbClr val="B824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594360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39319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Behavior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behavioral segments with age-based targeting.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39319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results by segment</a:t>
            </a:r>
            <a:endParaRPr lang="en-US" sz="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6F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0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constraints shape what the results can and cannot show.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4754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project report, limitations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868680"/>
          </a:xfrm>
          <a:prstGeom prst="roundRect">
            <a:avLst>
              <a:gd name="adj" fmla="val 10526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3716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Date Variable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growth and retention over time can’t be analyzed.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868680"/>
          </a:xfrm>
          <a:prstGeom prst="roundRect">
            <a:avLst>
              <a:gd name="adj" fmla="val 10526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937760" y="13716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Cutoffs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Returning and Loyal thresholds are analyst-defined.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3977640" cy="868680"/>
          </a:xfrm>
          <a:prstGeom prst="roundRect">
            <a:avLst>
              <a:gd name="adj" fmla="val 10526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235915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Group Sizes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Repeat-buyer subscription comparison: 3,476 repeat buyers vs 424 other customers.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2359152"/>
            <a:ext cx="3977640" cy="868680"/>
          </a:xfrm>
          <a:prstGeom prst="roundRect">
            <a:avLst>
              <a:gd name="adj" fmla="val 10526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937760" y="235915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Data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of discounts on profit can’t be estimated.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46704"/>
            <a:ext cx="3977640" cy="868680"/>
          </a:xfrm>
          <a:prstGeom prst="roundRect">
            <a:avLst>
              <a:gd name="adj" fmla="val 10526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85800" y="3346704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Not Causation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do not prove cause, and no significance tests were run.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3346704"/>
            <a:ext cx="3977640" cy="868680"/>
          </a:xfrm>
          <a:prstGeom prst="roundRect">
            <a:avLst>
              <a:gd name="adj" fmla="val 10526"/>
            </a:avLst>
          </a:prstGeom>
          <a:solidFill>
            <a:srgbClr val="F5E9F8"/>
          </a:solidFill>
          <a:ln w="12700">
            <a:solidFill>
              <a:srgbClr val="F5E9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937760" y="3346704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may not generalize beyond these 3,900 purchases.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project: </a:t>
            </a:r>
            <a:r>
              <a:rPr lang="en-US" sz="1300" u="sng" dirty="0">
                <a:solidFill>
                  <a:srgbClr val="6B0F7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the project on GitHu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github.com/khtibimane/customer_behavior_analysis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6F6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822</Words>
  <Application>Microsoft Office PowerPoint</Application>
  <PresentationFormat>On-screen Show (16:9)</PresentationFormat>
  <Paragraphs>168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Imane Khtib</dc:creator>
  <cp:lastModifiedBy>Imane Khtib</cp:lastModifiedBy>
  <cp:revision>2</cp:revision>
  <dcterms:created xsi:type="dcterms:W3CDTF">2026-10-01T19:23:35Z</dcterms:created>
  <dcterms:modified xsi:type="dcterms:W3CDTF">2026-10-02T07:56:49Z</dcterms:modified>
</cp:coreProperties>
</file>